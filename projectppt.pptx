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7" r:id="rId4"/>
    <p:sldId id="259" r:id="rId5"/>
    <p:sldId id="260" r:id="rId6"/>
    <p:sldId id="261" r:id="rId7"/>
    <p:sldId id="263" r:id="rId8"/>
    <p:sldId id="268" r:id="rId9"/>
    <p:sldId id="262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4D38D7-2759-89CB-E340-014161F72111}" v="1152" dt="2026-01-22T09:03:59.5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19"/>
  </p:normalViewPr>
  <p:slideViewPr>
    <p:cSldViewPr snapToGrid="0" snapToObjects="1">
      <p:cViewPr varScale="1">
        <p:scale>
          <a:sx n="121" d="100"/>
          <a:sy n="121" d="100"/>
        </p:scale>
        <p:origin x="176" y="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200" y="231634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ndara"/>
                <a:cs typeface="Times New Roman"/>
              </a:rPr>
              <a:t>Agriculture</a:t>
            </a:r>
            <a:r>
              <a:rPr dirty="0">
                <a:latin typeface="Candara"/>
                <a:cs typeface="Times New Roman"/>
              </a:rPr>
              <a:t> Crop Prediction</a:t>
            </a:r>
            <a:br>
              <a:rPr lang="en-US" dirty="0">
                <a:latin typeface="Candara"/>
              </a:rPr>
            </a:br>
            <a:r>
              <a:rPr lang="en-US" dirty="0">
                <a:latin typeface="Candara"/>
                <a:ea typeface="Calibri"/>
                <a:cs typeface="Calibri"/>
              </a:rPr>
              <a:t>Using Feature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58200"/>
            <a:ext cx="8229600" cy="913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endParaRPr/>
          </a:p>
        </p:txBody>
      </p:sp>
      <p:pic>
        <p:nvPicPr>
          <p:cNvPr id="4" name="Picture 3" descr="CVR College Of Engineering logo">
            <a:extLst>
              <a:ext uri="{FF2B5EF4-FFF2-40B4-BE49-F238E27FC236}">
                <a16:creationId xmlns:a16="http://schemas.microsoft.com/office/drawing/2014/main" id="{BFCC1958-AB32-29D5-0DA7-0E1B8BEA19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18" t="19713" r="10422" b="22705"/>
          <a:stretch>
            <a:fillRect/>
          </a:stretch>
        </p:blipFill>
        <p:spPr>
          <a:xfrm>
            <a:off x="572655" y="220128"/>
            <a:ext cx="1494741" cy="15026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0342FC-0FC6-4190-7EF4-EF8687828F9F}"/>
              </a:ext>
            </a:extLst>
          </p:cNvPr>
          <p:cNvSpPr txBox="1"/>
          <p:nvPr/>
        </p:nvSpPr>
        <p:spPr>
          <a:xfrm>
            <a:off x="2070000" y="485872"/>
            <a:ext cx="8317200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Candara"/>
                <a:ea typeface="Calibri"/>
                <a:cs typeface="Calibri"/>
              </a:rPr>
              <a:t>CVR COLLEGE OF ENGINEERING</a:t>
            </a:r>
          </a:p>
          <a:p>
            <a:r>
              <a:rPr lang="en-US" sz="3200" dirty="0">
                <a:latin typeface="Candara"/>
                <a:ea typeface="Calibri"/>
                <a:cs typeface="Calibri"/>
              </a:rPr>
              <a:t>       Department of CSE(AIML)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1C4D63-87F7-323C-3C7A-BDA32D7695FB}"/>
              </a:ext>
            </a:extLst>
          </p:cNvPr>
          <p:cNvSpPr txBox="1"/>
          <p:nvPr/>
        </p:nvSpPr>
        <p:spPr>
          <a:xfrm>
            <a:off x="6784063" y="5129296"/>
            <a:ext cx="380547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  -Presented by</a:t>
            </a:r>
          </a:p>
          <a:p>
            <a:r>
              <a:rPr lang="en-US" dirty="0">
                <a:ea typeface="Calibri"/>
                <a:cs typeface="Calibri"/>
              </a:rPr>
              <a:t>     23B81A7301</a:t>
            </a:r>
          </a:p>
          <a:p>
            <a:r>
              <a:rPr lang="en-US" dirty="0">
                <a:ea typeface="Calibri"/>
                <a:cs typeface="Calibri"/>
              </a:rPr>
              <a:t>     23B81A7302</a:t>
            </a:r>
          </a:p>
          <a:p>
            <a:r>
              <a:rPr lang="en-US" dirty="0">
                <a:ea typeface="Calibri"/>
                <a:cs typeface="Calibri"/>
              </a:rPr>
              <a:t>     23B81A7360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B45506-14B2-D3E1-3099-CB55AB7D6562}"/>
              </a:ext>
            </a:extLst>
          </p:cNvPr>
          <p:cNvSpPr txBox="1"/>
          <p:nvPr/>
        </p:nvSpPr>
        <p:spPr>
          <a:xfrm>
            <a:off x="6228600" y="4589438"/>
            <a:ext cx="18112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-Supervised by</a:t>
            </a:r>
          </a:p>
          <a:p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Mrs.G.Bhagyasri</a:t>
            </a:r>
            <a:r>
              <a:rPr lang="en-US" dirty="0">
                <a:ea typeface="Calibri"/>
                <a:cs typeface="Calibri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Problem Statement</a:t>
            </a:r>
            <a:endParaRPr lang="en-US" b="1" dirty="0"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US" dirty="0">
                <a:latin typeface="Calibri"/>
                <a:ea typeface="+mn-lt"/>
                <a:cs typeface="+mn-lt"/>
              </a:rPr>
              <a:t>Agriculture plays a vital role in ensuring food security and economic stability.</a:t>
            </a:r>
            <a:endParaRPr lang="en-US" dirty="0">
              <a:latin typeface="Calibri"/>
              <a:ea typeface="Calibri"/>
              <a:cs typeface="Calibri"/>
            </a:endParaRP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 dirty="0">
                <a:latin typeface="Calibri"/>
                <a:ea typeface="+mn-lt"/>
                <a:cs typeface="+mn-lt"/>
              </a:rPr>
              <a:t>Crop selection is a critical decision influenced by soil properties, climatic conditions, and environmental factors.</a:t>
            </a:r>
            <a:endParaRPr lang="en-US" dirty="0">
              <a:latin typeface="Calibri"/>
              <a:ea typeface="Calibri"/>
              <a:cs typeface="Calibri"/>
            </a:endParaRP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 dirty="0">
                <a:latin typeface="Calibri"/>
                <a:ea typeface="+mn-lt"/>
                <a:cs typeface="+mn-lt"/>
              </a:rPr>
              <a:t>Traditional crop selection methods rely on experience and rule-based practices, which lack adaptability to changing conditions.</a:t>
            </a:r>
            <a:endParaRPr lang="en-US" dirty="0">
              <a:latin typeface="Calibri"/>
              <a:ea typeface="Calibri"/>
              <a:cs typeface="Calibri"/>
            </a:endParaRP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 dirty="0">
                <a:latin typeface="Calibri"/>
                <a:ea typeface="+mn-lt"/>
                <a:cs typeface="+mn-lt"/>
              </a:rPr>
              <a:t>Advances in data collection have enabled the use of machine learning for agricultural decision support.</a:t>
            </a:r>
            <a:endParaRPr lang="en-US" dirty="0">
              <a:latin typeface="Calibri"/>
              <a:ea typeface="Calibri"/>
              <a:cs typeface="Calibri"/>
            </a:endParaRP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 dirty="0">
                <a:latin typeface="Calibri"/>
                <a:ea typeface="+mn-lt"/>
                <a:cs typeface="+mn-lt"/>
              </a:rPr>
              <a:t>However, agricultural datasets are often high-dimensional, containing redundant and irrelevant features.</a:t>
            </a:r>
            <a:endParaRPr dirty="0">
              <a:latin typeface="Calibri"/>
              <a:ea typeface="Calibri"/>
              <a:cs typeface="Calibri"/>
            </a:endParaRPr>
          </a:p>
          <a:p>
            <a:endParaRPr dirty="0">
              <a:latin typeface="Calibri"/>
              <a:ea typeface="Calibri"/>
              <a:cs typeface="Calibri"/>
            </a:endParaRPr>
          </a:p>
          <a:p>
            <a:r>
              <a:rPr lang="en-US" dirty="0">
                <a:latin typeface="Calibri"/>
                <a:ea typeface="+mn-lt"/>
                <a:cs typeface="+mn-lt"/>
              </a:rPr>
              <a:t>Feature selection helps identify the most significant parameters, improving model accuracy, interpretability, and robustness.</a:t>
            </a:r>
            <a:endParaRPr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5C4E1-5B5F-CF43-0F95-68F321692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Calibri"/>
                <a:cs typeface="Calibri"/>
              </a:rPr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9124A-8715-DE2B-55AB-60334F1C6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>
                <a:ea typeface="+mn-lt"/>
                <a:cs typeface="+mn-lt"/>
              </a:rPr>
              <a:t>A machine learning–based crop prediction system is proposed to recommend suitable crops using soil and climatic parameters.</a:t>
            </a:r>
            <a:endParaRPr lang="en-US" sz="1800" dirty="0">
              <a:ea typeface="Calibri"/>
              <a:cs typeface="Calibri"/>
            </a:endParaRPr>
          </a:p>
          <a:p>
            <a:endParaRPr lang="en-US" sz="1800" dirty="0">
              <a:ea typeface="Calibri"/>
              <a:cs typeface="Calibri"/>
            </a:endParaRPr>
          </a:p>
          <a:p>
            <a:r>
              <a:rPr lang="en-US" sz="1800" dirty="0">
                <a:ea typeface="+mn-lt"/>
                <a:cs typeface="+mn-lt"/>
              </a:rPr>
              <a:t>The system applies feature selection techniques to identify the most relevant attributes affecting crop growth.</a:t>
            </a:r>
            <a:endParaRPr lang="en-US" sz="1800" dirty="0">
              <a:ea typeface="Calibri"/>
              <a:cs typeface="Calibri"/>
            </a:endParaRPr>
          </a:p>
          <a:p>
            <a:endParaRPr lang="en-US" sz="1800" dirty="0">
              <a:ea typeface="Calibri"/>
              <a:cs typeface="Calibri"/>
            </a:endParaRPr>
          </a:p>
          <a:p>
            <a:r>
              <a:rPr lang="en-US" sz="1800" dirty="0">
                <a:ea typeface="+mn-lt"/>
                <a:cs typeface="+mn-lt"/>
              </a:rPr>
              <a:t>An optimized dataset with selected features is used to train classification models.</a:t>
            </a:r>
            <a:endParaRPr lang="en-US" sz="1800" dirty="0">
              <a:ea typeface="Calibri"/>
              <a:cs typeface="Calibri"/>
            </a:endParaRPr>
          </a:p>
          <a:p>
            <a:endParaRPr lang="en-US" sz="1800" dirty="0">
              <a:ea typeface="Calibri"/>
              <a:cs typeface="Calibri"/>
            </a:endParaRPr>
          </a:p>
          <a:p>
            <a:r>
              <a:rPr lang="en-US" sz="1800" dirty="0">
                <a:ea typeface="+mn-lt"/>
                <a:cs typeface="+mn-lt"/>
              </a:rPr>
              <a:t>Multiple machine learning algorithms are evaluated to determine the most effective prediction model.</a:t>
            </a:r>
            <a:endParaRPr lang="en-US" sz="1800" dirty="0">
              <a:ea typeface="Calibri"/>
              <a:cs typeface="Calibri"/>
            </a:endParaRPr>
          </a:p>
          <a:p>
            <a:endParaRPr lang="en-US" sz="1800" dirty="0">
              <a:ea typeface="Calibri"/>
              <a:cs typeface="Calibri"/>
            </a:endParaRPr>
          </a:p>
          <a:p>
            <a:r>
              <a:rPr lang="en-US" sz="1800" dirty="0">
                <a:ea typeface="+mn-lt"/>
                <a:cs typeface="+mn-lt"/>
              </a:rPr>
              <a:t>The proposed approach improves prediction accuracy while reducing computational complexity.</a:t>
            </a:r>
            <a:endParaRPr lang="en-US" sz="18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08441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923" y="1416455"/>
            <a:ext cx="8229600" cy="50123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1800" b="1" dirty="0">
              <a:latin typeface="Candara"/>
              <a:ea typeface="Calibri"/>
              <a:cs typeface="Calibri"/>
            </a:endParaRPr>
          </a:p>
          <a:p>
            <a:pPr lvl="1"/>
            <a:r>
              <a:rPr lang="en-US" sz="1800" dirty="0">
                <a:latin typeface="Candara"/>
                <a:cs typeface="Arial"/>
              </a:rPr>
              <a:t>To analyze soil and climatic conditions affecting crop growth</a:t>
            </a:r>
            <a:endParaRPr lang="en-US" sz="1800" dirty="0">
              <a:latin typeface="Candara"/>
            </a:endParaRPr>
          </a:p>
          <a:p>
            <a:pPr lvl="1"/>
            <a:r>
              <a:rPr lang="en-US" sz="1800" dirty="0">
                <a:latin typeface="Candara"/>
                <a:cs typeface="Arial"/>
              </a:rPr>
              <a:t>To collect and preprocess agricultural datasets</a:t>
            </a:r>
            <a:endParaRPr sz="1800">
              <a:latin typeface="Candara"/>
            </a:endParaRPr>
          </a:p>
          <a:p>
            <a:pPr lvl="1"/>
            <a:r>
              <a:rPr lang="en-US" sz="1800" dirty="0">
                <a:latin typeface="Candara"/>
                <a:cs typeface="Arial"/>
              </a:rPr>
              <a:t>To apply feature selection techniques to identify important factors</a:t>
            </a:r>
            <a:endParaRPr lang="en-US" sz="1800" dirty="0">
              <a:latin typeface="Candara"/>
            </a:endParaRPr>
          </a:p>
          <a:p>
            <a:pPr lvl="1"/>
            <a:r>
              <a:rPr lang="en-US" sz="1800" dirty="0">
                <a:latin typeface="Candara"/>
                <a:cs typeface="Arial"/>
              </a:rPr>
              <a:t>To build machine learning models for crop prediction</a:t>
            </a:r>
            <a:endParaRPr sz="1800">
              <a:latin typeface="Candara"/>
            </a:endParaRPr>
          </a:p>
          <a:p>
            <a:pPr lvl="1"/>
            <a:r>
              <a:rPr lang="en-US" sz="1800" dirty="0">
                <a:latin typeface="Candara"/>
                <a:cs typeface="Arial"/>
              </a:rPr>
              <a:t>To improve prediction accuracy by removing irrelevant features</a:t>
            </a:r>
            <a:endParaRPr sz="1800">
              <a:latin typeface="Candara"/>
            </a:endParaRPr>
          </a:p>
          <a:p>
            <a:pPr lvl="1"/>
            <a:r>
              <a:rPr lang="en-US" sz="1800" dirty="0">
                <a:latin typeface="Candara"/>
                <a:cs typeface="Arial"/>
              </a:rPr>
              <a:t>To recommend the most suitable crop for given environmental conditions</a:t>
            </a:r>
            <a:endParaRPr lang="en-US" sz="1800" dirty="0">
              <a:latin typeface="Candara"/>
            </a:endParaRPr>
          </a:p>
          <a:p>
            <a:pPr lvl="1"/>
            <a:r>
              <a:rPr lang="en-US" sz="1800" dirty="0">
                <a:latin typeface="Candara"/>
                <a:cs typeface="Arial"/>
              </a:rPr>
              <a:t>To assist farmers in making data-driven agricultural decisions</a:t>
            </a:r>
          </a:p>
          <a:p>
            <a:pPr lvl="1"/>
            <a:r>
              <a:rPr lang="en-US" sz="1800" dirty="0">
                <a:ea typeface="+mn-lt"/>
                <a:cs typeface="+mn-lt"/>
              </a:rPr>
              <a:t>Visualizing crop yield by comparing it with the previous year’s data.</a:t>
            </a:r>
            <a:endParaRPr lang="en-US" sz="1800" dirty="0">
              <a:latin typeface="Candara"/>
              <a:cs typeface="Arial"/>
            </a:endParaRPr>
          </a:p>
          <a:p>
            <a:endParaRPr lang="en-US" sz="1800" dirty="0">
              <a:latin typeface="Canda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Dataset Features</a:t>
            </a:r>
            <a:endParaRPr lang="en-US" b="1" dirty="0"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pPr>
              <a:buFont typeface="Wingdings"/>
              <a:buChar char="Ø"/>
            </a:pPr>
            <a:r>
              <a:rPr lang="en-US" b="1" dirty="0">
                <a:ea typeface="+mn-lt"/>
                <a:cs typeface="+mn-lt"/>
              </a:rPr>
              <a:t>Nitrogen (N):</a:t>
            </a:r>
            <a:r>
              <a:rPr lang="en-US" dirty="0">
                <a:ea typeface="+mn-lt"/>
                <a:cs typeface="+mn-lt"/>
              </a:rPr>
              <a:t> Essential nutrient influencing plant growth and yield</a:t>
            </a:r>
            <a:endParaRPr lang="en-US" dirty="0"/>
          </a:p>
          <a:p>
            <a:pPr>
              <a:buFont typeface="Wingdings"/>
              <a:buChar char="Ø"/>
            </a:pPr>
            <a:endParaRPr lang="en-US" b="1" dirty="0">
              <a:ea typeface="Calibri"/>
              <a:cs typeface="Calibri"/>
            </a:endParaRPr>
          </a:p>
          <a:p>
            <a:pPr>
              <a:buFont typeface="Wingdings"/>
              <a:buChar char="Ø"/>
            </a:pPr>
            <a:r>
              <a:rPr lang="en-US" b="1" dirty="0">
                <a:ea typeface="+mn-lt"/>
                <a:cs typeface="+mn-lt"/>
              </a:rPr>
              <a:t>Phosphorus (P):</a:t>
            </a:r>
            <a:r>
              <a:rPr lang="en-US" dirty="0">
                <a:ea typeface="+mn-lt"/>
                <a:cs typeface="+mn-lt"/>
              </a:rPr>
              <a:t> Supports root development and energy transfer</a:t>
            </a:r>
            <a:endParaRPr lang="en-US" dirty="0">
              <a:ea typeface="Calibri"/>
              <a:cs typeface="Calibri"/>
            </a:endParaRPr>
          </a:p>
          <a:p>
            <a:pPr>
              <a:buFont typeface="Wingdings"/>
              <a:buChar char="Ø"/>
            </a:pPr>
            <a:endParaRPr lang="en-US">
              <a:ea typeface="Calibri"/>
              <a:cs typeface="Calibri"/>
            </a:endParaRPr>
          </a:p>
          <a:p>
            <a:pPr>
              <a:buFont typeface="Wingdings"/>
              <a:buChar char="Ø"/>
            </a:pPr>
            <a:r>
              <a:rPr lang="en-US" b="1" dirty="0">
                <a:ea typeface="+mn-lt"/>
                <a:cs typeface="+mn-lt"/>
              </a:rPr>
              <a:t>Potassium (K): </a:t>
            </a:r>
            <a:r>
              <a:rPr lang="en-US" dirty="0">
                <a:ea typeface="+mn-lt"/>
                <a:cs typeface="+mn-lt"/>
              </a:rPr>
              <a:t>Enhances disease resistance and crop quality</a:t>
            </a:r>
            <a:endParaRPr lang="en-US" dirty="0">
              <a:ea typeface="Calibri"/>
              <a:cs typeface="Calibri"/>
            </a:endParaRPr>
          </a:p>
          <a:p>
            <a:pPr>
              <a:buFont typeface="Wingdings"/>
              <a:buChar char="Ø"/>
            </a:pPr>
            <a:endParaRPr lang="en-US">
              <a:ea typeface="Calibri"/>
              <a:cs typeface="Calibri"/>
            </a:endParaRPr>
          </a:p>
          <a:p>
            <a:pPr>
              <a:buFont typeface="Wingdings"/>
              <a:buChar char="Ø"/>
            </a:pPr>
            <a:r>
              <a:rPr lang="en-US" b="1" dirty="0">
                <a:ea typeface="+mn-lt"/>
                <a:cs typeface="+mn-lt"/>
              </a:rPr>
              <a:t>Temperature: </a:t>
            </a:r>
            <a:r>
              <a:rPr lang="en-US" dirty="0">
                <a:ea typeface="+mn-lt"/>
                <a:cs typeface="+mn-lt"/>
              </a:rPr>
              <a:t>Affects crop growth cycle and metabolism</a:t>
            </a:r>
            <a:endParaRPr lang="en-US" dirty="0">
              <a:ea typeface="Calibri"/>
              <a:cs typeface="Calibri"/>
            </a:endParaRPr>
          </a:p>
          <a:p>
            <a:pPr>
              <a:buFont typeface="Wingdings"/>
              <a:buChar char="Ø"/>
            </a:pPr>
            <a:endParaRPr lang="en-US">
              <a:ea typeface="Calibri"/>
              <a:cs typeface="Calibri"/>
            </a:endParaRPr>
          </a:p>
          <a:p>
            <a:pPr>
              <a:buFont typeface="Wingdings"/>
              <a:buChar char="Ø"/>
            </a:pPr>
            <a:r>
              <a:rPr lang="en-US" b="1" dirty="0">
                <a:ea typeface="+mn-lt"/>
                <a:cs typeface="+mn-lt"/>
              </a:rPr>
              <a:t>Humidity:</a:t>
            </a:r>
            <a:r>
              <a:rPr lang="en-US" dirty="0">
                <a:ea typeface="+mn-lt"/>
                <a:cs typeface="+mn-lt"/>
              </a:rPr>
              <a:t> Influences transpiration and plant health</a:t>
            </a:r>
            <a:endParaRPr lang="en-US" dirty="0">
              <a:ea typeface="Calibri"/>
              <a:cs typeface="Calibri"/>
            </a:endParaRPr>
          </a:p>
          <a:p>
            <a:pPr>
              <a:buFont typeface="Wingdings"/>
              <a:buChar char="Ø"/>
            </a:pPr>
            <a:endParaRPr lang="en-US">
              <a:ea typeface="Calibri"/>
              <a:cs typeface="Calibri"/>
            </a:endParaRPr>
          </a:p>
          <a:p>
            <a:pPr>
              <a:buFont typeface="Wingdings"/>
              <a:buChar char="Ø"/>
            </a:pPr>
            <a:r>
              <a:rPr lang="en-US" b="1" dirty="0">
                <a:ea typeface="+mn-lt"/>
                <a:cs typeface="+mn-lt"/>
              </a:rPr>
              <a:t>Soil pH:</a:t>
            </a:r>
            <a:r>
              <a:rPr lang="en-US" dirty="0">
                <a:ea typeface="+mn-lt"/>
                <a:cs typeface="+mn-lt"/>
              </a:rPr>
              <a:t> Determines nutrient availability in soil</a:t>
            </a:r>
            <a:endParaRPr lang="en-US" dirty="0">
              <a:ea typeface="Calibri"/>
              <a:cs typeface="Calibri"/>
            </a:endParaRPr>
          </a:p>
          <a:p>
            <a:pPr>
              <a:buFont typeface="Wingdings"/>
              <a:buChar char="Ø"/>
            </a:pPr>
            <a:endParaRPr>
              <a:ea typeface="Calibri"/>
              <a:cs typeface="Calibri"/>
            </a:endParaRPr>
          </a:p>
          <a:p>
            <a:pPr>
              <a:buFont typeface="Wingdings"/>
              <a:buChar char="Ø"/>
            </a:pPr>
            <a:r>
              <a:rPr lang="en-US" b="1" dirty="0">
                <a:ea typeface="+mn-lt"/>
                <a:cs typeface="+mn-lt"/>
              </a:rPr>
              <a:t>Rainfall: </a:t>
            </a:r>
            <a:r>
              <a:rPr lang="en-US" dirty="0">
                <a:ea typeface="+mn-lt"/>
                <a:cs typeface="+mn-lt"/>
              </a:rPr>
              <a:t>Impacts soil moisture and irrigation requirements</a:t>
            </a:r>
            <a:endParaRPr lang="en-US" dirty="0">
              <a:ea typeface="Calibri"/>
              <a:cs typeface="Calibri"/>
            </a:endParaRPr>
          </a:p>
          <a:p>
            <a:pPr>
              <a:buFont typeface="Wingdings"/>
              <a:buChar char="Ø"/>
            </a:pP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These features collectively represent the soil and climatic conditions required for accurate crop prediction.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Feature Selection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8923"/>
            <a:ext cx="8229600" cy="452596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AutoNum type="arabicParenR"/>
            </a:pPr>
            <a:endParaRPr lang="en-US" sz="1800" dirty="0">
              <a:latin typeface="Calibri"/>
              <a:ea typeface="+mn-lt"/>
              <a:cs typeface="+mn-lt"/>
            </a:endParaRPr>
          </a:p>
          <a:p>
            <a:pPr lvl="1"/>
            <a:r>
              <a:rPr lang="en-US" sz="1800" dirty="0">
                <a:latin typeface="Calibri"/>
                <a:ea typeface="+mn-lt"/>
                <a:cs typeface="+mn-lt"/>
              </a:rPr>
              <a:t>Feature selection identifies the most influential soil and climatic parameters affecting crop growth </a:t>
            </a:r>
            <a:endParaRPr lang="en-US" sz="1800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sz="1800" dirty="0">
                <a:latin typeface="Calibri"/>
                <a:ea typeface="Calibri"/>
                <a:cs typeface="Calibri"/>
              </a:rPr>
              <a:t>Eliminates irrelevant </a:t>
            </a:r>
            <a:r>
              <a:rPr lang="en-US" sz="1800" dirty="0">
                <a:latin typeface="Calibri"/>
                <a:ea typeface="+mn-lt"/>
                <a:cs typeface="+mn-lt"/>
              </a:rPr>
              <a:t>and redundant features from the dataset</a:t>
            </a:r>
          </a:p>
          <a:p>
            <a:pPr lvl="1"/>
            <a:r>
              <a:rPr lang="en-US" sz="1800" dirty="0">
                <a:latin typeface="Calibri"/>
                <a:ea typeface="+mn-lt"/>
                <a:cs typeface="+mn-lt"/>
              </a:rPr>
              <a:t> Reduces model complexity and overfitting  </a:t>
            </a:r>
            <a:endParaRPr lang="en-US" sz="1800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sz="1800" dirty="0">
                <a:latin typeface="Calibri"/>
                <a:ea typeface="Calibri"/>
                <a:cs typeface="Calibri"/>
              </a:rPr>
              <a:t>Improves prediction accuracy and training efficiency </a:t>
            </a:r>
          </a:p>
          <a:p>
            <a:pPr lvl="1"/>
            <a:r>
              <a:rPr lang="en-US" sz="1800" dirty="0">
                <a:latin typeface="Calibri"/>
                <a:ea typeface="Calibri"/>
                <a:cs typeface="Calibri"/>
              </a:rPr>
              <a:t>Enhances interpretability of machine learning models</a:t>
            </a:r>
          </a:p>
          <a:p>
            <a:pPr lvl="1"/>
            <a:r>
              <a:rPr lang="en-US" sz="1800" dirty="0">
                <a:latin typeface="Calibri"/>
                <a:ea typeface="Calibri"/>
                <a:cs typeface="Calibri"/>
              </a:rPr>
              <a:t>Techniques Applied :</a:t>
            </a:r>
          </a:p>
          <a:p>
            <a:pPr marL="457200" lvl="1" indent="0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>
              <a:buAutoNum type="arabicParenR"/>
            </a:pPr>
            <a:endParaRPr lang="en-US" dirty="0">
              <a:latin typeface="Calibri"/>
              <a:ea typeface="Calibri"/>
              <a:cs typeface="Calibri"/>
            </a:endParaRPr>
          </a:p>
          <a:p>
            <a:pPr>
              <a:spcBef>
                <a:spcPts val="400"/>
              </a:spcBef>
              <a:buAutoNum type="arabicParenR"/>
            </a:pP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39C042-1740-B56F-4245-C7A554FD65EA}"/>
              </a:ext>
            </a:extLst>
          </p:cNvPr>
          <p:cNvSpPr txBox="1"/>
          <p:nvPr/>
        </p:nvSpPr>
        <p:spPr>
          <a:xfrm>
            <a:off x="1686393" y="3914629"/>
            <a:ext cx="461847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en-US" dirty="0">
                <a:latin typeface="Calibri"/>
                <a:ea typeface="Calibri"/>
                <a:cs typeface="Calibri"/>
              </a:rPr>
              <a:t>Correlation-based filtering </a:t>
            </a:r>
          </a:p>
          <a:p>
            <a:pPr marL="228600" indent="-228600">
              <a:buFont typeface="Arial"/>
              <a:buChar char="•"/>
            </a:pPr>
            <a:r>
              <a:rPr lang="en-US" dirty="0">
                <a:latin typeface="Calibri"/>
                <a:ea typeface="Calibri"/>
                <a:cs typeface="Calibri"/>
              </a:rPr>
              <a:t>Recursive Feature Elimination (RFE) </a:t>
            </a:r>
          </a:p>
          <a:p>
            <a:pPr marL="228600" indent="-228600">
              <a:buFont typeface="Arial"/>
              <a:buChar char="•"/>
            </a:pPr>
            <a:r>
              <a:rPr lang="en-US" dirty="0">
                <a:latin typeface="Calibri"/>
                <a:ea typeface="Calibri"/>
                <a:cs typeface="Calibri"/>
              </a:rPr>
              <a:t>Random Forest feature importance </a:t>
            </a:r>
            <a:endParaRPr lang="en-US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7021"/>
            <a:ext cx="8229600" cy="964660"/>
          </a:xfrm>
        </p:spPr>
        <p:txBody>
          <a:bodyPr/>
          <a:lstStyle/>
          <a:p>
            <a:r>
              <a:rPr b="1" dirty="0"/>
              <a:t>Workflow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Collection of agricultural soil and climate data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Data preprocessing to ensure quality and consistency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Application of feature selection to identify relevant attributes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Training of machine learning models using selected features</a:t>
            </a:r>
            <a:endParaRPr lang="en-US" dirty="0">
              <a:ea typeface="Calibri"/>
              <a:cs typeface="Calibri"/>
            </a:endParaRPr>
          </a:p>
          <a:p>
            <a:endParaRPr lang="en-US" sz="2900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Evaluation of model performance using standard metrics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Prediction and analysis of suitable crops</a:t>
            </a:r>
            <a:endParaRPr lang="en-US" dirty="0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4000" dirty="0">
                <a:ea typeface="+mn-lt"/>
                <a:cs typeface="+mn-lt"/>
              </a:rPr>
              <a:t>      </a:t>
            </a:r>
            <a:r>
              <a:rPr lang="en-US" sz="4000" b="1" dirty="0">
                <a:ea typeface="+mn-lt"/>
                <a:cs typeface="+mn-lt"/>
              </a:rPr>
              <a:t>Workflow Summary:</a:t>
            </a:r>
            <a:endParaRPr lang="en-US" sz="4000" b="1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2500" b="1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4000" dirty="0">
                <a:ea typeface="Calibri"/>
                <a:cs typeface="Calibri"/>
              </a:rPr>
              <a:t>        </a:t>
            </a:r>
            <a:r>
              <a:rPr lang="en-US" sz="4400" dirty="0">
                <a:ea typeface="Calibri"/>
                <a:cs typeface="Calibri"/>
              </a:rPr>
              <a:t> </a:t>
            </a:r>
            <a:r>
              <a:rPr lang="en-US" sz="3300" dirty="0">
                <a:ea typeface="Calibri"/>
                <a:cs typeface="Calibri"/>
              </a:rPr>
              <a:t>Data Collection → Preprocessing → Feature Selection → Model Training → Evaluation →   Crop Prediction</a:t>
            </a:r>
            <a:endParaRPr lang="en-US" sz="3300">
              <a:ea typeface="Calibri"/>
              <a:cs typeface="Calibri"/>
            </a:endParaRPr>
          </a:p>
          <a:p>
            <a:pPr marL="0" indent="0">
              <a:buNone/>
            </a:pPr>
            <a:endParaRPr lang="en-US" sz="40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40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8A637-B558-8DFA-0186-72912034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Calibri"/>
                <a:cs typeface="Calibri"/>
              </a:rPr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FA1A3-7E80-C0B1-8CF5-FAFA7AE05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 dirty="0">
                <a:ea typeface="+mn-lt"/>
                <a:cs typeface="+mn-lt"/>
              </a:rPr>
              <a:t>Python – </a:t>
            </a:r>
            <a:r>
              <a:rPr lang="en-US" sz="2000" dirty="0">
                <a:ea typeface="+mn-lt"/>
                <a:cs typeface="+mn-lt"/>
              </a:rPr>
              <a:t>core programming language</a:t>
            </a:r>
            <a:endParaRPr lang="en-US" sz="2000" dirty="0">
              <a:ea typeface="Calibri"/>
              <a:cs typeface="Calibri"/>
            </a:endParaRPr>
          </a:p>
          <a:p>
            <a:endParaRPr lang="en-US" sz="2000" dirty="0">
              <a:ea typeface="Calibri"/>
              <a:cs typeface="Calibri"/>
            </a:endParaRPr>
          </a:p>
          <a:p>
            <a:r>
              <a:rPr lang="en-US" sz="2000" b="1" dirty="0">
                <a:ea typeface="+mn-lt"/>
                <a:cs typeface="+mn-lt"/>
              </a:rPr>
              <a:t>Scikit-learn –</a:t>
            </a:r>
            <a:r>
              <a:rPr lang="en-US" sz="2000" dirty="0">
                <a:ea typeface="+mn-lt"/>
                <a:cs typeface="+mn-lt"/>
              </a:rPr>
              <a:t> machine learning and feature selection</a:t>
            </a:r>
            <a:endParaRPr lang="en-US" sz="2000" dirty="0">
              <a:ea typeface="Calibri"/>
              <a:cs typeface="Calibri"/>
            </a:endParaRPr>
          </a:p>
          <a:p>
            <a:endParaRPr lang="en-US" sz="2000" dirty="0">
              <a:ea typeface="Calibri"/>
              <a:cs typeface="Calibri"/>
            </a:endParaRPr>
          </a:p>
          <a:p>
            <a:r>
              <a:rPr lang="en-US" sz="2000" b="1" dirty="0">
                <a:ea typeface="+mn-lt"/>
                <a:cs typeface="+mn-lt"/>
              </a:rPr>
              <a:t>Pandas &amp; NumPy – </a:t>
            </a:r>
            <a:r>
              <a:rPr lang="en-US" sz="2000" dirty="0">
                <a:ea typeface="+mn-lt"/>
                <a:cs typeface="+mn-lt"/>
              </a:rPr>
              <a:t>data preprocessing and analysis</a:t>
            </a:r>
            <a:endParaRPr lang="en-US" sz="2000" dirty="0">
              <a:ea typeface="Calibri"/>
              <a:cs typeface="Calibri"/>
            </a:endParaRPr>
          </a:p>
          <a:p>
            <a:endParaRPr lang="en-US" sz="2000" dirty="0">
              <a:ea typeface="Calibri"/>
              <a:cs typeface="Calibri"/>
            </a:endParaRPr>
          </a:p>
          <a:p>
            <a:r>
              <a:rPr lang="en-US" sz="2000" b="1" dirty="0">
                <a:ea typeface="+mn-lt"/>
                <a:cs typeface="+mn-lt"/>
              </a:rPr>
              <a:t>Flask – </a:t>
            </a:r>
            <a:r>
              <a:rPr lang="en-US" sz="2000" dirty="0">
                <a:ea typeface="+mn-lt"/>
                <a:cs typeface="+mn-lt"/>
              </a:rPr>
              <a:t>web-based user interface</a:t>
            </a:r>
            <a:endParaRPr lang="en-US" sz="2000" dirty="0">
              <a:ea typeface="Calibri"/>
              <a:cs typeface="Calibri"/>
            </a:endParaRPr>
          </a:p>
          <a:p>
            <a:endParaRPr lang="en-US" sz="2000" dirty="0">
              <a:ea typeface="Calibri"/>
              <a:cs typeface="Calibri"/>
            </a:endParaRPr>
          </a:p>
          <a:p>
            <a:r>
              <a:rPr lang="en-US" sz="2000" b="1" dirty="0">
                <a:ea typeface="+mn-lt"/>
                <a:cs typeface="+mn-lt"/>
              </a:rPr>
              <a:t>Matplotlib / Seaborn </a:t>
            </a:r>
            <a:r>
              <a:rPr lang="en-US" sz="2000" dirty="0">
                <a:ea typeface="+mn-lt"/>
                <a:cs typeface="+mn-lt"/>
              </a:rPr>
              <a:t>– result visualization</a:t>
            </a:r>
            <a:endParaRPr lang="en-US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8215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Machine Learning Models</a:t>
            </a:r>
            <a:endParaRPr lang="en-US" b="1" dirty="0"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2600" b="1" dirty="0">
                <a:ea typeface="+mn-lt"/>
                <a:cs typeface="+mn-lt"/>
              </a:rPr>
              <a:t>Decision Tree:</a:t>
            </a:r>
            <a:endParaRPr lang="en-US" sz="2600" b="1"/>
          </a:p>
          <a:p>
            <a:endParaRPr lang="en-US" sz="1600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Selected due to its simple structure and high interpretability, making it suitable for understanding the impact of individual agricultural features on crop prediction.</a:t>
            </a:r>
            <a:endParaRPr lang="en-US" dirty="0"/>
          </a:p>
          <a:p>
            <a:endParaRPr lang="en-US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600" b="1" dirty="0">
                <a:ea typeface="+mn-lt"/>
                <a:cs typeface="+mn-lt"/>
              </a:rPr>
              <a:t>Random Forest:</a:t>
            </a:r>
            <a:endParaRPr lang="en-US" b="1" dirty="0">
              <a:ea typeface="Calibri"/>
              <a:cs typeface="Calibri"/>
            </a:endParaRPr>
          </a:p>
          <a:p>
            <a:endParaRPr lang="en-US" sz="1600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Chosen for its ensemble learning approach, which reduces overfitting and provides feature importance scores, making it highly effective for datasets involving multiple soil and climatic parameters.</a:t>
            </a:r>
            <a:endParaRPr lang="en-US" dirty="0"/>
          </a:p>
          <a:p>
            <a:endParaRPr lang="en-US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600" b="1" dirty="0">
                <a:ea typeface="+mn-lt"/>
                <a:cs typeface="+mn-lt"/>
              </a:rPr>
              <a:t>K-Nearest Neighbors (KNN):</a:t>
            </a:r>
            <a:endParaRPr lang="en-US" b="1" dirty="0">
              <a:ea typeface="Calibri"/>
              <a:cs typeface="Calibri"/>
            </a:endParaRPr>
          </a:p>
          <a:p>
            <a:endParaRPr lang="en-US" sz="1600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Used for its ability to classify crops based on similarity between input conditions, allowing effective handling of non-linear relationships in agricultural data.</a:t>
            </a:r>
            <a:endParaRPr lang="en-US" dirty="0"/>
          </a:p>
          <a:p>
            <a:endParaRPr lang="en-US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These models collectively provide a balance between interpretability, accuracy, and robustness, making them appropriate for agricultural crop prediction using feature selection.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The project successfully demonstrates the application of machine learning techniques for agricultural crop prediction.</a:t>
            </a:r>
            <a:endParaRPr lang="en-US"/>
          </a:p>
          <a:p>
            <a:endParaRPr lang="en-US"/>
          </a:p>
          <a:p>
            <a:r>
              <a:rPr lang="en-US" dirty="0">
                <a:ea typeface="+mn-lt"/>
                <a:cs typeface="+mn-lt"/>
              </a:rPr>
              <a:t>Feature selection significantly improves prediction accuracy by identifying the most relevant soil and climatic parameters.</a:t>
            </a:r>
            <a:endParaRPr lang="en-US"/>
          </a:p>
          <a:p>
            <a:endParaRPr lang="en-US"/>
          </a:p>
          <a:p>
            <a:r>
              <a:rPr lang="en-US" dirty="0">
                <a:ea typeface="+mn-lt"/>
                <a:cs typeface="+mn-lt"/>
              </a:rPr>
              <a:t>The use of optimized feature sets reduces model complexity and computational overhead.</a:t>
            </a:r>
            <a:endParaRPr lang="en-US" dirty="0"/>
          </a:p>
          <a:p>
            <a:endParaRPr lang="en-US"/>
          </a:p>
          <a:p>
            <a:r>
              <a:rPr lang="en-US" dirty="0">
                <a:ea typeface="+mn-lt"/>
                <a:cs typeface="+mn-lt"/>
              </a:rPr>
              <a:t>Among the evaluated models, ensemble-based methods provide better and more reliable performance.</a:t>
            </a:r>
            <a:endParaRPr lang="en-US" dirty="0"/>
          </a:p>
          <a:p>
            <a:endParaRPr/>
          </a:p>
          <a:p>
            <a:r>
              <a:rPr lang="en-US" dirty="0">
                <a:ea typeface="+mn-lt"/>
                <a:cs typeface="+mn-lt"/>
              </a:rPr>
              <a:t>The proposed system can assist in data-driven agricultural decision-making and serves as a foundation for advanced smart farming solutions.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47106"/>
            <a:ext cx="8229600" cy="1143000"/>
          </a:xfrm>
        </p:spPr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713</Words>
  <Application>Microsoft Macintosh PowerPoint</Application>
  <PresentationFormat>On-screen Show (4:3)</PresentationFormat>
  <Paragraphs>121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Candara</vt:lpstr>
      <vt:lpstr>Wingdings</vt:lpstr>
      <vt:lpstr>Office Theme</vt:lpstr>
      <vt:lpstr>Agriculture Crop Prediction Using Feature Selection</vt:lpstr>
      <vt:lpstr>Problem Statement</vt:lpstr>
      <vt:lpstr>Proposed solution</vt:lpstr>
      <vt:lpstr>Objectives</vt:lpstr>
      <vt:lpstr>Dataset Features</vt:lpstr>
      <vt:lpstr>Feature Selection</vt:lpstr>
      <vt:lpstr>Workflow</vt:lpstr>
      <vt:lpstr>Technologies Used</vt:lpstr>
      <vt:lpstr>Machine Learning Models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SAMA ANUSRI</cp:lastModifiedBy>
  <cp:revision>484</cp:revision>
  <dcterms:created xsi:type="dcterms:W3CDTF">2013-01-27T09:14:16Z</dcterms:created>
  <dcterms:modified xsi:type="dcterms:W3CDTF">2026-01-22T10:00:04Z</dcterms:modified>
  <cp:category/>
</cp:coreProperties>
</file>